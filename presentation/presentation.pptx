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49802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Добрый день! Меня зовут Настасия Ерёмина, курс «Аналитик данных». Тема моего проекта — прогнозирование спроса на новогодний ассортимент розничной сети, в разрезе «магазин на товарную подгруппу», для оптимизации первичного распределения товара.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Розничная сеть товаров для дома, декора и подарков — это 170 с лишним магазинов по России. Каждый год перед Новым годом сеть распределяет сезонный товар по магазинам, и решение об этом принимается в середине октября — до того, как продажи вообще начались. Недовоз — упущенные продажи. Перевоз — заморозка капитала и уценка после 31 декабря. Работа продолжает более раннюю попытку по первому кварталу, доработанную с учётом обратной связи научного руководителя. Цель — построить обоснованные правила распределения и честно оценить их точность против текущей практики.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Единица прогноза — пара «магазин и товарная подгруппа» на сезон ноябрь-декабрь. Точка отсечки признаков — 15 октября: модель использует только информацию, доступную до старта продаж. Метрика — WAPE (устойчива к низким/нулевым продажам, в отличие от MAPE) и bias. Сравниваю три метода: наивный LFL, fair share, Ridge-регрессия.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36 недельных выгрузок 1С, 3.44 млн строк, после очистки — 172 магазина, 83 подгруппы. Проблемы 1С: пропуски = нули (проверено на примере), разный регистр названий, неуникальность имени подгруппы (составной ключ). Признаки: ever_active (была ли пара в ассортименте), is_stockout (дефицит на конец недели). Train/test разбиты по магазинам без пересечений.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Пик спроса определён по данным, не назначен вручную — неделя 52 в обоих сезонах: 860 257 шт. (2024) и 789 716 шт. (2025). ABC-XYZ по подгруппам: золотой фонд (AX) — всего 2 позиции (шапки, перчатки). Большинство топовых по выручке подгрупп нестабильны (Z) — это логично, они и дают резкий скачок перед Новым годом.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Спирмен ρ=0.906, p&lt;0.0001 — структура спроса устойчива между сезонами, это обосновывает LFL-прогноз. Манна-Уитни: дефицит на Дальнем Востоке в 5.2 раза выше сети (25.7% против 4.9%), p&lt;0.00001 — статистически значимо, системная проблема, вероятно логистика.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Главный слайд. Оба графика — подлинные, сохранены прямо из ноутбука. Честная проверка на 36 отложенных магазинах. Наивный LFL и fair share дали одинаковый WAPE 51.7% — математически тождественны при едином коэффициенте роста. Ridge (отдельные веса по кластеру/категории/подгруппе) снижает WAPE до 33.5% — почти на треть точнее, bias сократился с 16.4% до 6.2%. Улучшение системное — точнее в 8 из 9 кластеров.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рекомендации: 1) дифференцировать коэффициент роста по кластерам; 2) пересмотреть логистику для Дальнего Востока (упущенная выручка ~306 883 руб. за сезон, масштабировано); 3) доверять модели AX/AY, контролировать вручную CZ. Ограничения: дефицит определён косвенно (нет справочника ассортимента), один сезон обучения. Развитие: учёт стокаута в целевой переменной, второй сезон, точка отсечки «пополнение по ходу сезона».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Спасибо за внимание, готова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B47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91440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Shape 2"/>
          <p:cNvSpPr/>
          <p:nvPr/>
        </p:nvSpPr>
        <p:spPr>
          <a:xfrm>
            <a:off x="11155680" y="82296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603504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11247120" y="594360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Shape 5"/>
          <p:cNvSpPr/>
          <p:nvPr/>
        </p:nvSpPr>
        <p:spPr>
          <a:xfrm>
            <a:off x="1828800" y="539496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Shape 6"/>
          <p:cNvSpPr/>
          <p:nvPr/>
        </p:nvSpPr>
        <p:spPr>
          <a:xfrm>
            <a:off x="10058400" y="146304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965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ПРОЕКТ  ·  КУРС «АНАЛИТИК ДАННЫХ»  ·  НИУ ВШЭ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3172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Прогнозирование спроса на новогодний ассортимент розничной сети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разрезе «магазин × товарная подгруппа» для оптимизации первичного распределения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5166360"/>
            <a:ext cx="201168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Проблема: распределение вслепую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 о первичном распределении принимается 15 октября — до старта продаж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074920" cy="2788920"/>
          </a:xfrm>
          <a:prstGeom prst="roundRect">
            <a:avLst>
              <a:gd name="adj" fmla="val 2623"/>
            </a:avLst>
          </a:prstGeom>
          <a:solidFill>
            <a:srgbClr val="EAF0FB"/>
          </a:solidFill>
          <a:ln/>
          <a:effectLst>
            <a:outerShdw blurRad="101600" dist="38100" dir="5400000" algn="bl" rotWithShape="0">
              <a:srgbClr val="9AA5B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31720"/>
            <a:ext cx="685800" cy="68580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35000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Недовоз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874520" y="275234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OUT-OF-STOCK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338328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 распродал товар досрочно — полка пустует, продажи упущены.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89320" y="1965960"/>
            <a:ext cx="5074920" cy="2788920"/>
          </a:xfrm>
          <a:prstGeom prst="roundRect">
            <a:avLst>
              <a:gd name="adj" fmla="val 2623"/>
            </a:avLst>
          </a:prstGeom>
          <a:solidFill>
            <a:srgbClr val="EAF0FB"/>
          </a:solidFill>
          <a:ln/>
          <a:effectLst>
            <a:outerShdw blurRad="101600" dist="38100" dir="5400000" algn="bl" rotWithShape="0">
              <a:srgbClr val="9AA5B1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55080" y="233172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55080" y="2331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35000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Перевоз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75234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OVERSTOCK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55080" y="3383280"/>
            <a:ext cx="4343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31 декабря непроданный товар замораживает капитал и требует уценки.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Работа продолжает более раннюю попытку по кварталу 1, доработанную с учётом ревью научного руководителя.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8064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Цель: построить обоснованные правила распределения и оценить их точность против текущей практики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Постановка задачи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EAF0FB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6733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6733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54533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Единица прогноза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257800" y="1545336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 × товарная подгруппа × сезон (ноябрь–декабрь)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28803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275234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Точка отсечки признаков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2752344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октября — только информация, доступная до старта продаж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831336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EAF0FB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08736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4087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59352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Метрика качества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3959352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WAPE + bias (не MAPE — устойчивость к низким/нулевым продажам)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5038344"/>
            <a:ext cx="108813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60120" y="5294376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52943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828800" y="51663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Сравниваемые методы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51663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наивный LFL · fair share · Ridge-регрессия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Данные и методология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недельных выгрузок 1С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4173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3.44 млн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на входе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955280" y="14173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2148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магазина · 83 подгруппы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881360" cy="0"/>
          </a:xfrm>
          <a:prstGeom prst="line">
            <a:avLst/>
          </a:prstGeom>
          <a:noFill/>
          <a:ln w="12700">
            <a:solidFill>
              <a:srgbClr val="D8DE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017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Очистка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160520" y="3017520"/>
            <a:ext cx="7360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заполнения пропусков нулями (проверено на примере), нормализация регистра подгрупп, составной ключ «категория | группа | подгруппа»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114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Признаки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160520" y="4069080"/>
            <a:ext cx="7360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ever_active — пара в ассортименте; is_stockout — дефицит на конец недели; коэффициент роста сети по октябрю = 0.945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16636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5120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Проверка честности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160520" y="5120640"/>
            <a:ext cx="7360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Разбиение train/test по магазинам (0 пересечений); отсечка признаков до 15 октября — без утечки данных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находки: разведочный анализ</a:t>
            </a:r>
            <a:endParaRPr lang="en-US" sz="2800" dirty="0"/>
          </a:p>
        </p:txBody>
      </p:sp>
      <p:pic>
        <p:nvPicPr>
          <p:cNvPr id="3" name="Image 0" descr="02_weekly_dynam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3000"/>
            <a:ext cx="6537960" cy="3977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5193792"/>
            <a:ext cx="6537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Пик — неделя 52 в обоих сезонах: 860 257 шт. (2024) и 789 716 шт. (2025)</a:t>
            </a:r>
            <a:endParaRPr lang="en-US" sz="1250" dirty="0"/>
          </a:p>
        </p:txBody>
      </p:sp>
      <p:pic>
        <p:nvPicPr>
          <p:cNvPr id="5" name="Image 1" descr="05_abc_xyz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143000"/>
            <a:ext cx="4343400" cy="3794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269480" y="501091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Золотой фонд (AX) — всего 2 подгруппы: шапки, перчатки</a:t>
            </a:r>
            <a:endParaRPr lang="en-US" sz="1250" dirty="0"/>
          </a:p>
        </p:txBody>
      </p:sp>
      <p:sp>
        <p:nvSpPr>
          <p:cNvPr id="7" name="Text 3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Статистически подтверждено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23444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52704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= 0.906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305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Спирмен, p &lt; 0.0001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спроса устойчива между сезонами — ранги подгрупп сохраняются, что обосновывает LFL-прогноз.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379476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408736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5.2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6908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Манна-Уитни, p &lt; 0.00001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0749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 на Дальнем Востоке (25.7%) значимо выше остальной сети (4.9%).</a:t>
            </a:r>
            <a:endParaRPr lang="en-US" sz="1300" dirty="0"/>
          </a:p>
        </p:txBody>
      </p:sp>
      <p:pic>
        <p:nvPicPr>
          <p:cNvPr id="11" name="Image 0" descr="04_stockout_by_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257800" cy="406908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Результаты: сравнение трёх методов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Честная проверка на 36 отложенных магазинах, не участвовавших в обучении</a:t>
            </a:r>
            <a:endParaRPr lang="en-US" sz="1300" dirty="0"/>
          </a:p>
        </p:txBody>
      </p:sp>
      <p:pic>
        <p:nvPicPr>
          <p:cNvPr id="4" name="Image 0" descr="07_wape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08760"/>
            <a:ext cx="5577840" cy="3794760"/>
          </a:xfrm>
          <a:prstGeom prst="rect">
            <a:avLst/>
          </a:prstGeom>
        </p:spPr>
      </p:pic>
      <p:pic>
        <p:nvPicPr>
          <p:cNvPr id="5" name="Image 1" descr="06_wape_bias_by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508760"/>
            <a:ext cx="5257800" cy="32004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355080" y="47548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Точность бейзлайнов по кластерам — база для сравнения с Ridge</a:t>
            </a:r>
            <a:endParaRPr lang="en-US" sz="115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5349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Наивный LFL и Fair Share совпали математически — единый коэффициент роста усредняет разную динамику кластеров. Ridge, подбирая веса отдельно, снижает ошибку на треть (bias: 16.4% → 6.2%).</a:t>
            </a:r>
            <a:endParaRPr lang="en-US" sz="1450" dirty="0"/>
          </a:p>
        </p:txBody>
      </p:sp>
      <p:sp>
        <p:nvSpPr>
          <p:cNvPr id="8" name="Text 4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Рекомендации и дальнейшее развитие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5486400" cy="4892040"/>
          </a:xfrm>
          <a:prstGeom prst="roundRect">
            <a:avLst>
              <a:gd name="adj" fmla="val 1495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371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35024" y="1757201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Дифференцировать коэффициент роста по кластерам вместо единого сетевого значения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333756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337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014932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Пересмотреть логистику для Дальнего Востока — упущенная выручка 306 883 руб. за сезон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617720"/>
            <a:ext cx="384048" cy="384048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617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4283964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Доверять модели AX/AY-подгруппы; для CZ сохранять экспертный контроль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9632" y="1188720"/>
            <a:ext cx="5440680" cy="4892040"/>
          </a:xfrm>
          <a:prstGeom prst="roundRect">
            <a:avLst>
              <a:gd name="adj" fmla="val 1495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73952" y="137160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И РАЗВИТИЕ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73952" y="2167128"/>
            <a:ext cx="91440" cy="9144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720840" y="171450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Дефицит определён косвенно — справочник планового ассортимента недоступен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73952" y="3584448"/>
            <a:ext cx="91440" cy="9144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720840" y="3104388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обучен на одном сезоне (2024 → 2025)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73952" y="5001768"/>
            <a:ext cx="91440" cy="9144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720840" y="4519293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Далее: коррекция целевой переменной на стокаут, точка отсечки «пополнение по ходу сезона», второй сезон обучения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312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B47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" y="109728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00" y="91440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576072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6" name="Shape 4"/>
          <p:cNvSpPr/>
          <p:nvPr/>
        </p:nvSpPr>
        <p:spPr>
          <a:xfrm>
            <a:off x="11064240" y="5669280"/>
            <a:ext cx="82296" cy="8229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822959" y="3566160"/>
            <a:ext cx="6190315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Код, данные и подробные выводы — в приватном репозитории проекта на GitHub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1056</Words>
  <Application>Microsoft Office PowerPoint</Application>
  <PresentationFormat>Широкоэкранный</PresentationFormat>
  <Paragraphs>97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Анастасия Еремина</cp:lastModifiedBy>
  <cp:revision>2</cp:revision>
  <dcterms:created xsi:type="dcterms:W3CDTF">2026-09-09T13:18:45Z</dcterms:created>
  <dcterms:modified xsi:type="dcterms:W3CDTF">2026-09-13T18:40:51Z</dcterms:modified>
</cp:coreProperties>
</file>