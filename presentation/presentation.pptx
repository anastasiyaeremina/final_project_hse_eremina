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Добрый день! Меня зовут Настасия Ерёмина. Тема проекта — прогнозирование спроса на новогодний ассортимент розничной сети в разрезе «магазин и товарная подгруппа» для первичного распределения товара.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 сети товаров для дома, декора и подарков больше 170 магазинов. Проблема, которую решает эта работа: новогодний товар распределяется по магазинам в середине октября, до старта продаж, по экспертной оценке, и точность такого распределения на данных никто не проверял. Из-за этого сеть теряет дважды: там, где товара не хватило, полка пустеет и продажи упущены, а там, где его слишком много, после 31 декабря он замораживает деньги и уходит в уценку. Цель работы — найти обоснованное правило первичного распределения и честно проверить, насколько оно точное.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Я прогнозирую продажи пары «магазин и подгруппа» за ноябрь и декабрь. Решение принимается 15 октября, поэтому прогноз может использовать только то, что известно к этой дате. Метрика — WAPE, взвешенная процентная ошибка, устойчивая к нулевым продажам; дополнительно смотрю bias — систематическое завышение или занижение. Сравниваю простое правило LFL — прошлогодние продажи, умноженные на коэффициент роста, — и три модели машинного обучения.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Данные — 36 недельных выгрузок из 1С, 3,4 миллиона строк; после агрегации — 172 магазина и 83 подгруппы. В остатках, продажах и поставках было много пустых ячеек. Чтобы понять, что они значат, я проверила конкретный пример: в начале недели остаток две штуки, продано две штуки, а в конце недели ячейка пустая. Значит, пустая ячейка — это ноль, и я заменила такие пропуски нулями.</a:t>
            </a:r>
          </a:p>
          <a:p/>
          <a:p>
            <a:r>
              <a:t>Вторая сложность: справочника, какие товары каким магазинам назначены, нет. Если у пары «магазин и товар» весь сезон одни нули, это может быть и дефицит, и товар, который магазину просто не положен. Поэтому я считаю товар ассортиментным, если за сезон у него хотя бы раз был остаток, продажа или поставка; только тогда нулевой остаток засчитывается как дефицит. Январь в прогноз не входит: это распродажи, а не спрос.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Слева — суммарные продажи сети по неделям: по горизонтали недели с начала октября до начала февраля, по вертикали тысячи проданных штук. Пик спроса я не назначала, его показали данные: последняя неделя перед Новым годом в обоих сезонах. Справа — матрица ABC-XYZ, в каждой клетке число подгрупп. Буква A, B или C — вклад в выручку, X, Y или Z — насколько ровно подгруппа продаётся. Доходных и стабильных подгрупп всего две — шапки и перчатки; большинство доходных продаются скачками, это и есть предновогодний пик.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Я проверила две гипотезы. Первая: лидеры продаж прошлого сезона остаются лидерами и в этом. Я расставила подгруппы по местам в рейтинге выручки и сравнила места двух сезонов: корреляция Спирмена 0,906, рейтинг почти не меняется. Это обосновывает прогноз от прошлого года. Вторая: на Дальнем Востоке дефицит выше, чем в остальной сети. На диаграмме размаха видно, что доля недель с дефицитом там 25,7 процента против 4,9 по сети, в 5,2 раза выше; тест Манна-Уитни подтверждает различие.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Как проверить прогноз? Я сделала это двумя способами. Основной — честная имитация 15 октября: модель учится на сезоне 2024 и прогнозирует сезон 2025, зная только то, что было известно к 15 октября. Второй — внутри сезона: модель видит реальные продажи ноября и декабря у одних магазинов и прогнозирует остальные. На 15 октября таких данных ещё нет, поэтому второй способ показывает не прогноз для распределения, а насколько модели полезны позже, когда сезон уже идёт.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главный результат. Лучший метод — простой LFL с единым коэффициентом роста по первым двум неделям октября: ошибка 45,8 процента. Случайный лес почти сравнялся — 46,8, Ridge сильно хуже. Без истории прошлого сезона моделям не хватает данных: у трёх четвертей пар в начале октября продаж ещё нет. По той же причине отдельные коэффициенты по кластерам и подгруппам ухудшают прогноз — они слишком шумные.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Если известны продажи текущего сезона в остальной сети, модели раскрываются. На 36 отложенных магазинах случайный лес снижает ошибку до 29,6 процента против 51,7 у бейзлайна, почти без систематического смещения. Это потенциал для перераспределения товара по ходу сезона. Часть этого выигрыша связана с одной находкой — о ней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Ни один артикул не менял подгруппу, но в 2025 году печенье продавалось новыми артикулами под группой «сладости», а не «хлебобулочные изделия». Общий спрос стабилен, но для прогноза по подгруппам это два разных товара: две подгруппы дают больше четверти ошибки бейзлайна. До сезона этот сдвиг не виден — около 10 пунктов ошибки любого метода, а модели внутри сезона его «выучили», отсюда примерно 40 процентов их выигрыша.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Рекомендации. Для первичного распределения — LFL с единым коэффициентом роста по началу октября. Для Дальнего Востока — пересмотреть логистику: упущенная выручка около 307 тысяч рублей за сезон в масштабированных цифрах. При смене ассортимента — переносить историю продаж вручную. Модели — для перераспределения в сезоне; следующий шаг — проверить их на первых неделях ноября. Ограничения: дефицит определён косвенно, один сезон обучения, гиперпараметры не подбирались.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Спасибо за внимание, готова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23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1440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3" name="Shape 1"/>
          <p:cNvSpPr/>
          <p:nvPr/>
        </p:nvSpPr>
        <p:spPr>
          <a:xfrm>
            <a:off x="11155680" y="82296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03504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5" name="Shape 3"/>
          <p:cNvSpPr/>
          <p:nvPr/>
        </p:nvSpPr>
        <p:spPr>
          <a:xfrm>
            <a:off x="11247120" y="594360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0" y="539496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0" y="146304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5C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ИТОГОВЫЙ ПРОЕКТ  ·  КУРС «АНАЛИТИК ДАННЫХ»  ·  НИУ ВШЭ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33172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Прогнозирование спроса на новогодний ассортимент розничной сети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822960" y="43434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4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разрезе «магазин × товарная подгруппа» для оптимизации первичного распределения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5166360"/>
            <a:ext cx="2011680" cy="0"/>
          </a:xfrm>
          <a:prstGeom prst="line">
            <a:avLst/>
          </a:prstGeom>
          <a:noFill/>
          <a:ln w="25400">
            <a:solidFill>
              <a:srgbClr val="B61B3B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Проблема: распределение вслепую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о первичном распределении принимается 15 октября — до старта продаж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1EFE8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194560"/>
            <a:ext cx="685800" cy="68580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74520" y="2212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Недовоз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74520" y="26151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B61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OUT-OF-STOCK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154680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Магазин распродал товар досрочно — полка пустует, продажи упущены.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89320" y="182880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1EFE8"/>
          </a:solidFill>
          <a:ln/>
        </p:spPr>
      </p:sp>
      <p:sp>
        <p:nvSpPr>
          <p:cNvPr id="11" name="Shape 9"/>
          <p:cNvSpPr/>
          <p:nvPr/>
        </p:nvSpPr>
        <p:spPr>
          <a:xfrm>
            <a:off x="6355080" y="2194560"/>
            <a:ext cx="685800" cy="685800"/>
          </a:xfrm>
          <a:prstGeom prst="ellipse">
            <a:avLst/>
          </a:prstGeom>
          <a:solidFill>
            <a:srgbClr val="323C32"/>
          </a:solidFill>
          <a:ln/>
        </p:spPr>
      </p:sp>
      <p:sp>
        <p:nvSpPr>
          <p:cNvPr id="12" name="Text 10"/>
          <p:cNvSpPr/>
          <p:nvPr/>
        </p:nvSpPr>
        <p:spPr>
          <a:xfrm>
            <a:off x="6355080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23760" y="2212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Перевоз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23760" y="26151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323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OVERSTOCK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080" y="3154680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31 декабря непроданный товар замораживает капитал и требует уценки.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4937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Цель: найти обоснованное правило распределения и честно проверить его точность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задачи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1EFE8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1581912"/>
            <a:ext cx="548640" cy="5486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581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28800" y="143560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Единица прогноза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257800" y="1435608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магазин × товарная подгруппа × сезон (ноябрь–декабрь)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532888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960120" y="2788920"/>
            <a:ext cx="548640" cy="5486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828800" y="264261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Момент решения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57800" y="2642616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октября — прогноз использует только данные, известные к этой дате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1EF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3995928"/>
            <a:ext cx="548640" cy="5486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995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828800" y="384962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Метрика качества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257800" y="3849624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WAPE + bias (не MAPE — устойчивость к нулевым продажам)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946904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" y="5202936"/>
            <a:ext cx="548640" cy="5486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52029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28800" y="5056632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Сравниваемые методы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57800" y="5056632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LFL-бейзлайны (факт 2024 × коэффициент роста) · Ridge · Lasso · Random Forest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 и методология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61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недельных выгрузок 1С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297680" y="1280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61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3.44 млн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297680" y="1965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на входе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955280" y="1280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61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955280" y="1965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магазина · 83 подгруппы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10881360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3017520"/>
            <a:ext cx="457200" cy="457200"/>
          </a:xfrm>
          <a:prstGeom prst="ellipse">
            <a:avLst/>
          </a:prstGeom>
          <a:solidFill>
            <a:srgbClr val="323C32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28803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Очистка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60520" y="2880360"/>
            <a:ext cx="7360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Пропуски = нули (проверено на примере), единый регистр, составной ключ «категория | группа | подгруппа»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323C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25880" y="39776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Признаки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60520" y="3977640"/>
            <a:ext cx="7360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ever_active — товар в ассортименте магазина; is_stockout — нулевой остаток на конец недели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212080"/>
            <a:ext cx="457200" cy="457200"/>
          </a:xfrm>
          <a:prstGeom prst="ellipse">
            <a:avLst/>
          </a:prstGeom>
          <a:solidFill>
            <a:srgbClr val="323C32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25880" y="50749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Окна периода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160520" y="5074920"/>
            <a:ext cx="7360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Октябрь — признаки, ноябрь–декабрь — целевая переменная, январь вне прогноза (распродажи, а не спрос)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Ключевые находки: разведочный анализ</a:t>
            </a:r>
            <a:endParaRPr lang="en-US" sz="2800" dirty="0"/>
          </a:p>
        </p:txBody>
      </p:sp>
      <p:pic>
        <p:nvPicPr>
          <p:cNvPr id="3" name="Image 0" descr="02_weekly_dynamics_n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25880"/>
            <a:ext cx="7309128" cy="2999232"/>
          </a:xfrm>
          <a:prstGeom prst="rect">
            <a:avLst/>
          </a:prstGeom>
        </p:spPr>
      </p:pic>
      <p:pic>
        <p:nvPicPr>
          <p:cNvPr id="4" name="Image 1" descr="05_abc_xyz_matri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7808" y="1325880"/>
            <a:ext cx="3545092" cy="299923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" y="4480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— неделя 52 в обоих сезонах: 860 257 шт. (2024) и 789 716 шт. (2025)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8183880" y="4480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Стабильных и доходных (AX) — всего 2 подгруппы: шапки и перчатки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94360" y="5440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Спрос сжат в последние недели перед Новым годом — основная масса покупок приходится на финальный рывок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Статистически подтверждено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5394960" cy="1600200"/>
          </a:xfrm>
          <a:prstGeom prst="roundRect">
            <a:avLst>
              <a:gd name="adj" fmla="val 4571"/>
            </a:avLst>
          </a:prstGeom>
          <a:solidFill>
            <a:srgbClr val="7E1013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2984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= 0.906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3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Спирмен, p &lt; 0.0001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337560" y="1325880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Ранги подгрупп устойчивы между сезонами — это обосновывает прогноз от прошлого года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188720"/>
            <a:ext cx="5394960" cy="1600200"/>
          </a:xfrm>
          <a:prstGeom prst="roundRect">
            <a:avLst>
              <a:gd name="adj" fmla="val 4571"/>
            </a:avLst>
          </a:prstGeom>
          <a:solidFill>
            <a:srgbClr val="7E1013"/>
          </a:solidFill>
          <a:ln/>
        </p:spPr>
      </p:sp>
      <p:sp>
        <p:nvSpPr>
          <p:cNvPr id="8" name="Text 6"/>
          <p:cNvSpPr/>
          <p:nvPr/>
        </p:nvSpPr>
        <p:spPr>
          <a:xfrm>
            <a:off x="6446520" y="12984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5.2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46520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3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Манна-Уитни, p &lt; 0.00001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0" y="1325880"/>
            <a:ext cx="2514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Дефицит на Дальнем Востоке 25.7% против 4.9% по остальной сети</a:t>
            </a:r>
            <a:endParaRPr lang="en-US" sz="1250" dirty="0"/>
          </a:p>
        </p:txBody>
      </p:sp>
      <p:pic>
        <p:nvPicPr>
          <p:cNvPr id="11" name="Image 0" descr="04_stockout_by_clu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6796" y="2971800"/>
            <a:ext cx="8595360" cy="3512611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схемы проверки моделей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вопрос: что модель имеет право знать в момент решения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1EFE8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463040"/>
            <a:ext cx="5349240" cy="868680"/>
          </a:xfrm>
          <a:prstGeom prst="rect">
            <a:avLst/>
          </a:prstGeom>
          <a:solidFill>
            <a:srgbClr val="323C3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536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4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ОСНОВНАЯ СХЕМА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8105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Прогноз на 15 октября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51760" y="2514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 2024: начало октября → продажи ноября–декабря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227832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51760" y="32278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 2025, все сопоставимые пары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941064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394106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W40–W41, атрибуты магазина, подгруппа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4654296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сезона 2025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51760" y="465429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97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используются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146304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1EFE8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9632" y="1463040"/>
            <a:ext cx="5349240" cy="868680"/>
          </a:xfrm>
          <a:prstGeom prst="rect">
            <a:avLst/>
          </a:prstGeom>
          <a:solidFill>
            <a:srgbClr val="6970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15361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4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ПОТЕНЦИАЛА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73952" y="18105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сезона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73952" y="2514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11312" y="25146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 магазинов, продажи сезона 2025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73952" y="3227832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11312" y="32278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других магазинов того же сезона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73952" y="3941064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11312" y="394106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прошлого сезона, дефицит, атрибуты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73952" y="4654296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сезона 2025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11312" y="465429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1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используются — у остальных магазинов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 15 октября продаж сезона ещё нет: для первичного распределения — только левая схема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октября: простое правило не хуже моделей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на сезоне 2024, проверка на сезоне 2025, только данные до 15 октября · 10 720 пар</a:t>
            </a:r>
            <a:endParaRPr lang="en-US" sz="1300" dirty="0"/>
          </a:p>
        </p:txBody>
      </p:sp>
      <p:pic>
        <p:nvPicPr>
          <p:cNvPr id="4" name="Image 0" descr="09_temporal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858000" cy="342728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26680" y="1554480"/>
            <a:ext cx="3931920" cy="1508760"/>
          </a:xfrm>
          <a:prstGeom prst="roundRect">
            <a:avLst>
              <a:gd name="adj" fmla="val 4848"/>
            </a:avLst>
          </a:prstGeom>
          <a:solidFill>
            <a:srgbClr val="7E1013"/>
          </a:solidFill>
          <a:ln/>
        </p:spPr>
      </p:sp>
      <p:sp>
        <p:nvSpPr>
          <p:cNvPr id="6" name="Text 3"/>
          <p:cNvSpPr/>
          <p:nvPr/>
        </p:nvSpPr>
        <p:spPr>
          <a:xfrm>
            <a:off x="7955280" y="16459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45.8%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955280" y="2331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лучшая ошибка — LFL с единым коэффициентом роста по началу октября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726680" y="363474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9" name="Text 6"/>
          <p:cNvSpPr/>
          <p:nvPr/>
        </p:nvSpPr>
        <p:spPr>
          <a:xfrm>
            <a:off x="7955280" y="324612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46.8% — почти вровень; без истории прошлого сезона моделям не хватает данных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726680" y="450342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0" y="41148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Коэффициенты по кластерам и подгруппам хуже: у 74% пар в начале октября продаж ещё нет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726680" y="537210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3" name="Text 10"/>
          <p:cNvSpPr/>
          <p:nvPr/>
        </p:nvSpPr>
        <p:spPr>
          <a:xfrm>
            <a:off x="7955280" y="498348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Строгий коэффициент (0.886 вместо 0.945) снизил ошибку LFL с 50.0% до 45.8%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Потенциал моделей внутри сезона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отложенных магазинов · модели обучены на продажах сезона 2025 остальной сети</a:t>
            </a:r>
            <a:endParaRPr lang="en-US" sz="1300" dirty="0"/>
          </a:p>
        </p:txBody>
      </p:sp>
      <p:pic>
        <p:nvPicPr>
          <p:cNvPr id="4" name="Image 0" descr="08_wape_comparison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653083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0" y="1554480"/>
            <a:ext cx="4160520" cy="1508760"/>
          </a:xfrm>
          <a:prstGeom prst="roundRect">
            <a:avLst>
              <a:gd name="adj" fmla="val 4848"/>
            </a:avLst>
          </a:prstGeom>
          <a:solidFill>
            <a:srgbClr val="7E1013"/>
          </a:solidFill>
          <a:ln/>
        </p:spPr>
      </p:sp>
      <p:sp>
        <p:nvSpPr>
          <p:cNvPr id="6" name="Text 3"/>
          <p:cNvSpPr/>
          <p:nvPr/>
        </p:nvSpPr>
        <p:spPr>
          <a:xfrm>
            <a:off x="7726680" y="16459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29.6%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726680" y="23317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против 51.7% у бейзлайна, смещение всего 0.7%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63474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9" name="Text 6"/>
          <p:cNvSpPr/>
          <p:nvPr/>
        </p:nvSpPr>
        <p:spPr>
          <a:xfrm>
            <a:off x="7726680" y="32461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Лес лучший в 7 из 9 кластеров; главный признак — продажи прошлого сезона (82%)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98080" y="450342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1" name="Text 8"/>
          <p:cNvSpPr/>
          <p:nvPr/>
        </p:nvSpPr>
        <p:spPr>
          <a:xfrm>
            <a:off x="7726680" y="411480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оставил 15 признаков из 96 и потерял всего 2 п.п. точности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498080" y="537210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26680" y="498348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15 октября этих данных нет — это потенциал для перераспределения по ходу сезона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Находка: смена ассортимента печенья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один артикул не менял подгруппу — сменились сами артикулы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6766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1051560"/>
                <a:gridCol w="914400"/>
                <a:gridCol w="12344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C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2024: SKU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C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2024: шт.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C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2025: SKU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C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2025: шт.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C3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хлебобулочные изделия | печенье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135 266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B61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сладости | печенье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9 899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B61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131 587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Всего печенья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145 165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148 123 (+2%)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1605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Спрос на печенье стабилен, но для прогноза по подгруппам это два разных товара: одна подгруппа «обвалилась», другая «выросла» в 13 раз.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7726680" y="1645920"/>
            <a:ext cx="3931920" cy="1508760"/>
          </a:xfrm>
          <a:prstGeom prst="roundRect">
            <a:avLst>
              <a:gd name="adj" fmla="val 4848"/>
            </a:avLst>
          </a:prstGeom>
          <a:solidFill>
            <a:srgbClr val="7E1013"/>
          </a:solidFill>
          <a:ln/>
        </p:spPr>
      </p:sp>
      <p:sp>
        <p:nvSpPr>
          <p:cNvPr id="7" name="Text 4"/>
          <p:cNvSpPr/>
          <p:nvPr/>
        </p:nvSpPr>
        <p:spPr>
          <a:xfrm>
            <a:off x="7955280" y="17373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26.7%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955280" y="24231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 бейзлайна дают всего 2.6% пар — две подгруппы печенья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26680" y="372618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333756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15 октября сдвиг не виден: ≈10 п.п. ошибки у любого метода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726680" y="459486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2" name="Text 9"/>
          <p:cNvSpPr/>
          <p:nvPr/>
        </p:nvSpPr>
        <p:spPr>
          <a:xfrm>
            <a:off x="7955280" y="420624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 сезона модели «выучили» сдвиг — отсюда ≈40% их выигрыша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26680" y="5463540"/>
            <a:ext cx="91440" cy="9144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0" y="507492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при смене ассортимента переносить историю продаж вручную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23C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Рекомендации и ограничения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6035040" cy="4937760"/>
          </a:xfrm>
          <a:prstGeom prst="roundRect">
            <a:avLst>
              <a:gd name="adj" fmla="val 1481"/>
            </a:avLst>
          </a:prstGeom>
          <a:solidFill>
            <a:srgbClr val="F1EFE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353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323C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2048256"/>
            <a:ext cx="411480" cy="41148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482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Первичное распределение — LFL с единым коэффициентом роста, рассчитанным по началу октября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3099816"/>
            <a:ext cx="411480" cy="41148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998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88036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Пересмотреть логистику Дальнего Востока: упущенная выручка ≈307 тыс. руб. за сезон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4151376"/>
            <a:ext cx="411480" cy="41148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1513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39319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смене ассортимента между подгруппами переносить историю продаж вручную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5202936"/>
            <a:ext cx="411480" cy="411480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2029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498348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 — для перераспределения в сезоне; следующий шаг — проверка на первых неделях ноября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766560" y="1188720"/>
            <a:ext cx="4892040" cy="4937760"/>
          </a:xfrm>
          <a:prstGeom prst="roundRect">
            <a:avLst>
              <a:gd name="adj" fmla="val 1495"/>
            </a:avLst>
          </a:prstGeom>
          <a:solidFill>
            <a:srgbClr val="323C32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0" y="13533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5C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040880" y="2308860"/>
            <a:ext cx="91440" cy="91440"/>
          </a:xfrm>
          <a:prstGeom prst="ellipse">
            <a:avLst/>
          </a:prstGeom>
          <a:solidFill>
            <a:srgbClr val="C5C9A6"/>
          </a:solidFill>
          <a:ln/>
        </p:spPr>
      </p:sp>
      <p:sp>
        <p:nvSpPr>
          <p:cNvPr id="20" name="Text 18"/>
          <p:cNvSpPr/>
          <p:nvPr/>
        </p:nvSpPr>
        <p:spPr>
          <a:xfrm>
            <a:off x="7269480" y="182880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Дефицит определён косвенно — справочника ассортимента нет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040880" y="3360420"/>
            <a:ext cx="91440" cy="91440"/>
          </a:xfrm>
          <a:prstGeom prst="ellipse">
            <a:avLst/>
          </a:prstGeom>
          <a:solidFill>
            <a:srgbClr val="C5C9A6"/>
          </a:solidFill>
          <a:ln/>
        </p:spPr>
      </p:sp>
      <p:sp>
        <p:nvSpPr>
          <p:cNvPr id="22" name="Text 20"/>
          <p:cNvSpPr/>
          <p:nvPr/>
        </p:nvSpPr>
        <p:spPr>
          <a:xfrm>
            <a:off x="7269480" y="288036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сезон обучения (2024 → 2025)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040880" y="4411980"/>
            <a:ext cx="91440" cy="91440"/>
          </a:xfrm>
          <a:prstGeom prst="ellipse">
            <a:avLst/>
          </a:prstGeom>
          <a:solidFill>
            <a:srgbClr val="C5C9A6"/>
          </a:solidFill>
          <a:ln/>
        </p:spPr>
      </p:sp>
      <p:sp>
        <p:nvSpPr>
          <p:cNvPr id="24" name="Text 22"/>
          <p:cNvSpPr/>
          <p:nvPr/>
        </p:nvSpPr>
        <p:spPr>
          <a:xfrm>
            <a:off x="7269480" y="393192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Гиперпараметры моделей не подбирались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040880" y="5463540"/>
            <a:ext cx="91440" cy="91440"/>
          </a:xfrm>
          <a:prstGeom prst="ellipse">
            <a:avLst/>
          </a:prstGeom>
          <a:solidFill>
            <a:srgbClr val="C5C9A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9480" y="4983480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Новые магазины не сравнивались с прогнозом по аналогу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23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1440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3" name="Shape 1"/>
          <p:cNvSpPr/>
          <p:nvPr/>
        </p:nvSpPr>
        <p:spPr>
          <a:xfrm>
            <a:off x="11155680" y="82296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603504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5" name="Shape 3"/>
          <p:cNvSpPr/>
          <p:nvPr/>
        </p:nvSpPr>
        <p:spPr>
          <a:xfrm>
            <a:off x="11247120" y="594360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0" y="539496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7" name="Shape 5"/>
          <p:cNvSpPr/>
          <p:nvPr/>
        </p:nvSpPr>
        <p:spPr>
          <a:xfrm>
            <a:off x="10058400" y="1463040"/>
            <a:ext cx="82296" cy="82296"/>
          </a:xfrm>
          <a:prstGeom prst="ellipse">
            <a:avLst/>
          </a:prstGeom>
          <a:solidFill>
            <a:srgbClr val="B61B3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4E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Готова ответить на вопросы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25400">
            <a:solidFill>
              <a:srgbClr val="B61B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5C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Код, выводы по блокам и графики — в приватном репозитории проекта на GitHub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2026-10-03T09:11:48Z</dcterms:created>
  <dcterms:modified xsi:type="dcterms:W3CDTF">2026-10-03T09:11:48Z</dcterms:modified>
</cp:coreProperties>
</file>