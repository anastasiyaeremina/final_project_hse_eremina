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404" autoAdjust="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46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23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82296" cy="82296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822960"/>
            <a:ext cx="82296" cy="82296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035040"/>
            <a:ext cx="82296" cy="82296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5" name="Shape 3"/>
          <p:cNvSpPr/>
          <p:nvPr/>
        </p:nvSpPr>
        <p:spPr>
          <a:xfrm>
            <a:off x="11247120" y="5943600"/>
            <a:ext cx="82296" cy="82296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5394960"/>
            <a:ext cx="82296" cy="82296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1463040"/>
            <a:ext cx="82296" cy="82296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5C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ПРОЕКТ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10515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Прогнозирование спроса на новогодний ассортимент розничной сети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4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разрезе «магазин × товарная подгруппа» для оптимизации первичного распределения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5166360"/>
            <a:ext cx="2011680" cy="0"/>
          </a:xfrm>
          <a:prstGeom prst="line">
            <a:avLst/>
          </a:prstGeom>
          <a:noFill/>
          <a:ln w="25400">
            <a:solidFill>
              <a:srgbClr val="B61B3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Проблема: распределение вслепую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о первичном распределении принимается 15 октября — до старта продаж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74920" cy="2651760"/>
          </a:xfrm>
          <a:prstGeom prst="roundRect">
            <a:avLst>
              <a:gd name="adj" fmla="val 2759"/>
            </a:avLst>
          </a:prstGeom>
          <a:solidFill>
            <a:srgbClr val="F1EF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05840" y="2194560"/>
            <a:ext cx="685800" cy="685800"/>
          </a:xfrm>
          <a:prstGeom prst="ellipse">
            <a:avLst/>
          </a:prstGeom>
          <a:solidFill>
            <a:srgbClr val="B61B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74520" y="2212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Нехватка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74520" y="2615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B6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OUT-OF-STOCK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 распродал товар досрочно — полка пустует, продажи упущены.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89320" y="1828800"/>
            <a:ext cx="5074920" cy="2651760"/>
          </a:xfrm>
          <a:prstGeom prst="roundRect">
            <a:avLst>
              <a:gd name="adj" fmla="val 2759"/>
            </a:avLst>
          </a:prstGeom>
          <a:solidFill>
            <a:srgbClr val="F1EF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355080" y="2194560"/>
            <a:ext cx="685800" cy="685800"/>
          </a:xfrm>
          <a:prstGeom prst="ellipse">
            <a:avLst/>
          </a:prstGeom>
          <a:solidFill>
            <a:srgbClr val="323C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35508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23760" y="2212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Излишки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23760" y="2615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323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315468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31 декабря непроданный товар замораживает капитал и требует уценки.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Цель: найти обоснованное правило распределения и честно проверить его точность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Постановка задачи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1EFE8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581912"/>
            <a:ext cx="548640" cy="548640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81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143560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Единица прогноза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57800" y="143560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 × товарная подгруппа × сезон (ноябрь–декабрь)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32888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2788920"/>
            <a:ext cx="548640" cy="548640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264261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Момент решения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57800" y="2642616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октября — прогноз использует только данные, известные к этой дате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39896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1EFE8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3995928"/>
            <a:ext cx="548640" cy="548640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995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384962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Метрика качества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57800" y="3849624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WAPE + bias (не MAPE — устойчивость к нулевым продажам)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946904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202936"/>
            <a:ext cx="548640" cy="548640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202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0" y="505663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Сравниваемые методы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57800" y="5056632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LFL-бейзлайны (факт 2024 × коэффициент роста) · Ridge · Lasso · Random Forest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 и методология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61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недельных выгрузок 1С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97680" y="1280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61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3.44 млн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29768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на входе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0" y="1280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61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95528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магазина · 83 подгруппы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88136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323C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880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Очистка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60520" y="2880360"/>
            <a:ext cx="7360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Пропуски = нули (проверено на примере), единый регистр, составной ключ «категория | группа | подгруппа»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323C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3977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Признаки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60520" y="3977640"/>
            <a:ext cx="7360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ever_active — товар в ассортименте магазина; is_stockout — нулевой остаток в уже работающем магазине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5212080"/>
            <a:ext cx="457200" cy="457200"/>
          </a:xfrm>
          <a:prstGeom prst="ellipse">
            <a:avLst/>
          </a:prstGeom>
          <a:solidFill>
            <a:srgbClr val="323C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00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5074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Окна периода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60520" y="5074920"/>
            <a:ext cx="7360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Октябрь — признаки, ноябрь–декабрь — целевая переменная, январь вне прогноза (распродажи, а не спрос)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находки: разведочный анализ</a:t>
            </a:r>
            <a:endParaRPr lang="en-US" sz="2800" dirty="0"/>
          </a:p>
        </p:txBody>
      </p:sp>
      <p:pic>
        <p:nvPicPr>
          <p:cNvPr id="3" name="Image 0" descr="02_weekly_dynamics_n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7309128" cy="2999232"/>
          </a:xfrm>
          <a:prstGeom prst="rect">
            <a:avLst/>
          </a:prstGeom>
        </p:spPr>
      </p:pic>
      <p:pic>
        <p:nvPicPr>
          <p:cNvPr id="4" name="Image 1" descr="05_abc_xyz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808" y="1325880"/>
            <a:ext cx="3545092" cy="29992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436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 — неделя 52 в обоих сезонах: 860 257 шт. (2024) и 789 716 шт. (2025)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8183880" y="44805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Стабильных и доходных (AX) — всего 2 подгруппы: шапки и перчатки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94360" y="5440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Спрос сжат в последние недели перед Новым годом — основная масса покупок приходится на финальный рывок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Статистически подтверждено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7E10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914400" y="12984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0.906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Спирмен, p &lt; 0.0001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37560" y="132588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Ранги подгрупп устойчивы между сезонами — это обосновывает прогноз от прошлого года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1887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7E10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46520" y="12984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 п.п.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4652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χ², p &lt; 0.00001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0" y="132588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 магазина влияет на дефицит статистически, но слабо: по кластерам дефицит ровный, 2.6–8.1%</a:t>
            </a:r>
            <a:endParaRPr lang="en-US" sz="1250" dirty="0"/>
          </a:p>
        </p:txBody>
      </p:sp>
      <p:pic>
        <p:nvPicPr>
          <p:cNvPr id="11" name="Image 0" descr="04_stockout_by_clu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796" y="2971800"/>
            <a:ext cx="8595360" cy="351261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схемы проверки моделей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вопрос: что модель имеет право знать в момент решения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1EFE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63040"/>
            <a:ext cx="5349240" cy="868680"/>
          </a:xfrm>
          <a:prstGeom prst="rect">
            <a:avLst/>
          </a:prstGeom>
          <a:solidFill>
            <a:srgbClr val="323C3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36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4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СХЕМА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8105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Прогноз на 15 октября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2514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 2024: начало октября → продажи ноября–декабря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22783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32278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 2025, все сопоставимые пары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94106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394106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W40–W41, атрибуты магазина, подгруппа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65429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сезона 2025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465429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7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используются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9632" y="146304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1EFE8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9632" y="1463040"/>
            <a:ext cx="5349240" cy="868680"/>
          </a:xfrm>
          <a:prstGeom prst="rect">
            <a:avLst/>
          </a:prstGeom>
          <a:solidFill>
            <a:srgbClr val="697044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1536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4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ПОТЕНЦИАЛА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73952" y="18105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Внутри сезона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73952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11312" y="2514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магазинов, продажи сезона 2025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73952" y="322783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11312" y="322783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других магазинов того же сезона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73952" y="394106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11312" y="394106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прошлого сезона, дефицит, атрибуты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73952" y="465429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сезона 2025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11312" y="465429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61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используются — у остальных магазинов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15 октября продаж сезона ещё нет: для первичного распределения — только левая схема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октября: простое правило не хуже моделей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на сезоне 2024, проверка на сезоне 2025, только данные до 15 октября · 10 720 пар</a:t>
            </a:r>
            <a:endParaRPr lang="en-US" sz="1300" dirty="0"/>
          </a:p>
        </p:txBody>
      </p:sp>
      <p:pic>
        <p:nvPicPr>
          <p:cNvPr id="4" name="Image 0" descr="09_tempora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858000" cy="342728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6680" y="155448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7E1013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645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45.8%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955280" y="2331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 ошибка — LFL с единым коэффициентом роста по началу октября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26680" y="3634740"/>
            <a:ext cx="91440" cy="91440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9" name="Text 6"/>
          <p:cNvSpPr/>
          <p:nvPr/>
        </p:nvSpPr>
        <p:spPr>
          <a:xfrm>
            <a:off x="7955280" y="32461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46.8% — почти вровень; без истории прошлого сезона моделям не хватает данных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26680" y="4503420"/>
            <a:ext cx="91440" cy="91440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11" name="Text 8"/>
          <p:cNvSpPr/>
          <p:nvPr/>
        </p:nvSpPr>
        <p:spPr>
          <a:xfrm>
            <a:off x="7955280" y="41148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Коэффициенты по кластерам и подгруппам хуже: у 74% пар в начале октября продаж ещё нет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726680" y="5372100"/>
            <a:ext cx="91440" cy="91440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13" name="Text 10"/>
          <p:cNvSpPr/>
          <p:nvPr/>
        </p:nvSpPr>
        <p:spPr>
          <a:xfrm>
            <a:off x="7955280" y="49834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Строгий коэффициент (0.886 вместо 0.945) снизил ошибку LFL с 50.0% до 45.8%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Потенциал моделей внутри сезона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отложенных магазинов · модели обучены на продажах сезона 2025 остальной сети</a:t>
            </a:r>
            <a:endParaRPr lang="en-US" sz="1300" dirty="0"/>
          </a:p>
        </p:txBody>
      </p:sp>
      <p:pic>
        <p:nvPicPr>
          <p:cNvPr id="4" name="Image 0" descr="08_wape_comparison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653083" cy="3611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554480"/>
            <a:ext cx="4160520" cy="1508760"/>
          </a:xfrm>
          <a:prstGeom prst="roundRect">
            <a:avLst>
              <a:gd name="adj" fmla="val 4848"/>
            </a:avLst>
          </a:prstGeom>
          <a:solidFill>
            <a:srgbClr val="7E10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7726680" y="16459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30.3%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726680" y="23317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против 51.7% у бейзлайна, смещение всего 0.3%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98080" y="3634740"/>
            <a:ext cx="91440" cy="91440"/>
          </a:xfrm>
          <a:prstGeom prst="ellipse">
            <a:avLst/>
          </a:prstGeom>
          <a:solidFill>
            <a:srgbClr val="B61B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726680" y="32461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Лес лучший в 6 из 9 кластеров; главный признак — продажи прошлого сезона (82%)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0" y="4503420"/>
            <a:ext cx="91440" cy="91440"/>
          </a:xfrm>
          <a:prstGeom prst="ellipse">
            <a:avLst/>
          </a:prstGeom>
          <a:solidFill>
            <a:srgbClr val="B61B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7726680" y="41148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оставил 16 признаков из 96 и потерял около 1 п.п. точности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98080" y="5372100"/>
            <a:ext cx="91440" cy="91440"/>
          </a:xfrm>
          <a:prstGeom prst="ellipse">
            <a:avLst/>
          </a:prstGeom>
          <a:solidFill>
            <a:srgbClr val="B61B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7726680" y="49834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15 октября этих данных нет — это потенциал для перераспределения по ходу сезона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Находка: смена ассортимента печенья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один артикул не менял подгруппу — сменились сами артикулы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6766560" cy="226771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Подгруппа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C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2024: SKU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C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2024: шт.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C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2025: SKU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C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2025: шт.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3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хлебобулочные изделия | печенье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135 266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61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16 536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сладости | печенье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9 899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61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131 587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Всего печенья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145 165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148 123 (+2%)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605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 на печенье стабилен, но для прогноза по подгруппам это два разных товара: одна подгруппа «обвалилась», другая «выросла» в 13 раз.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726680" y="164592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7E1013"/>
          </a:solidFill>
          <a:ln/>
        </p:spPr>
      </p:sp>
      <p:sp>
        <p:nvSpPr>
          <p:cNvPr id="7" name="Text 4"/>
          <p:cNvSpPr/>
          <p:nvPr/>
        </p:nvSpPr>
        <p:spPr>
          <a:xfrm>
            <a:off x="7955280" y="1737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26.7%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955280" y="24231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бейзлайна дают всего 2.6% пар — две подгруппы печенья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3726180"/>
            <a:ext cx="91440" cy="91440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10" name="Text 7"/>
          <p:cNvSpPr/>
          <p:nvPr/>
        </p:nvSpPr>
        <p:spPr>
          <a:xfrm>
            <a:off x="7955280" y="333756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15 октября сдвиг не виден: ≈10 п.п. ошибки у любого метода</a:t>
            </a:r>
            <a:endParaRPr lang="en-US" sz="1300" dirty="0"/>
          </a:p>
        </p:txBody>
      </p:sp>
      <p:sp>
        <p:nvSpPr>
          <p:cNvPr id="4" name="Shape 8"/>
          <p:cNvSpPr/>
          <p:nvPr/>
        </p:nvSpPr>
        <p:spPr>
          <a:xfrm>
            <a:off x="7726680" y="4594860"/>
            <a:ext cx="91440" cy="91440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12" name="Text 9"/>
          <p:cNvSpPr/>
          <p:nvPr/>
        </p:nvSpPr>
        <p:spPr>
          <a:xfrm>
            <a:off x="7955280" y="420624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сезона модели «выучили» сдвиг — отсюда ≈40% их выигрыша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26680" y="5463540"/>
            <a:ext cx="91440" cy="91440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14" name="Text 11"/>
          <p:cNvSpPr/>
          <p:nvPr/>
        </p:nvSpPr>
        <p:spPr>
          <a:xfrm>
            <a:off x="7955280" y="507492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при смене ассортимента переносить историю продаж вручную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23C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Рекомендации и ограничения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6035040" cy="4937760"/>
          </a:xfrm>
          <a:prstGeom prst="roundRect">
            <a:avLst>
              <a:gd name="adj" fmla="val 1481"/>
            </a:avLst>
          </a:prstGeom>
          <a:solidFill>
            <a:srgbClr val="F1EFE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77240" y="13533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23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048256"/>
            <a:ext cx="411480" cy="411480"/>
          </a:xfrm>
          <a:prstGeom prst="ellipse">
            <a:avLst/>
          </a:prstGeom>
          <a:solidFill>
            <a:srgbClr val="B61B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2048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Первичное распределение — LFL с единым коэффициентом роста, рассчитанным по началу октября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099816"/>
            <a:ext cx="411480" cy="411480"/>
          </a:xfrm>
          <a:prstGeom prst="ellipse">
            <a:avLst/>
          </a:prstGeom>
          <a:solidFill>
            <a:srgbClr val="B61B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3099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88036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Магазины, открывшиеся в прошлом сезоне: прогноз модели вместо LFL (49.9% против 64.4%)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4151376"/>
            <a:ext cx="411480" cy="411480"/>
          </a:xfrm>
          <a:prstGeom prst="ellipse">
            <a:avLst/>
          </a:prstGeom>
          <a:solidFill>
            <a:srgbClr val="B61B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4151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9319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смене ассортимента между подгруппами переносить историю продаж вручную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5202936"/>
            <a:ext cx="411480" cy="411480"/>
          </a:xfrm>
          <a:prstGeom prst="ellipse">
            <a:avLst/>
          </a:prstGeom>
          <a:solidFill>
            <a:srgbClr val="B61B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7240" y="5202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98348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— для перераспределения в сезоне; следующий шаг — проверка на первых неделях ноября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6560" y="1188720"/>
            <a:ext cx="4892040" cy="4937760"/>
          </a:xfrm>
          <a:prstGeom prst="roundRect">
            <a:avLst>
              <a:gd name="adj" fmla="val 1495"/>
            </a:avLst>
          </a:prstGeom>
          <a:solidFill>
            <a:srgbClr val="323C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040880" y="13533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5C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40880" y="2308860"/>
            <a:ext cx="91440" cy="91440"/>
          </a:xfrm>
          <a:prstGeom prst="ellipse">
            <a:avLst/>
          </a:prstGeom>
          <a:solidFill>
            <a:srgbClr val="C5C9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269480" y="182880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Дефицит определён косвенно — справочника ассортимента нет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40880" y="3360420"/>
            <a:ext cx="91440" cy="91440"/>
          </a:xfrm>
          <a:prstGeom prst="ellipse">
            <a:avLst/>
          </a:prstGeom>
          <a:solidFill>
            <a:srgbClr val="C5C9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269480" y="288036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сезон обучения (2024 → 2025)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040880" y="4411980"/>
            <a:ext cx="91440" cy="91440"/>
          </a:xfrm>
          <a:prstGeom prst="ellipse">
            <a:avLst/>
          </a:prstGeom>
          <a:solidFill>
            <a:srgbClr val="C5C9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269480" y="393192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Гиперпараметры моделей не подбирались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40880" y="5463540"/>
            <a:ext cx="91440" cy="91440"/>
          </a:xfrm>
          <a:prstGeom prst="ellipse">
            <a:avLst/>
          </a:prstGeom>
          <a:solidFill>
            <a:srgbClr val="C5C9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269480" y="498348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магазины не сравнивались с прогнозом по аналогу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23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82296" cy="82296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822960"/>
            <a:ext cx="82296" cy="82296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035040"/>
            <a:ext cx="82296" cy="82296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5" name="Shape 3"/>
          <p:cNvSpPr/>
          <p:nvPr/>
        </p:nvSpPr>
        <p:spPr>
          <a:xfrm>
            <a:off x="11247120" y="5943600"/>
            <a:ext cx="82296" cy="82296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5394960"/>
            <a:ext cx="82296" cy="82296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1463040"/>
            <a:ext cx="82296" cy="82296"/>
          </a:xfrm>
          <a:prstGeom prst="ellipse">
            <a:avLst/>
          </a:prstGeom>
          <a:solidFill>
            <a:srgbClr val="B61B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13816" y="3566160"/>
            <a:ext cx="2011680" cy="0"/>
          </a:xfrm>
          <a:prstGeom prst="line">
            <a:avLst/>
          </a:prstGeom>
          <a:noFill/>
          <a:ln w="25400">
            <a:solidFill>
              <a:srgbClr val="B61B3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852</Words>
  <Application>Microsoft Office PowerPoint</Application>
  <PresentationFormat>Широкоэкранный</PresentationFormat>
  <Paragraphs>155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Анастасия Еремина</cp:lastModifiedBy>
  <cp:revision>2</cp:revision>
  <dcterms:created xsi:type="dcterms:W3CDTF">2026-10-03T09:11:48Z</dcterms:created>
  <dcterms:modified xsi:type="dcterms:W3CDTF">2026-10-12T21:06:56Z</dcterms:modified>
</cp:coreProperties>
</file>