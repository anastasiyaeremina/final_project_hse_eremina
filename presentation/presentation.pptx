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00811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23C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1440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3" name="Shape 1"/>
          <p:cNvSpPr/>
          <p:nvPr/>
        </p:nvSpPr>
        <p:spPr>
          <a:xfrm>
            <a:off x="11155680" y="82296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03504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5" name="Shape 3"/>
          <p:cNvSpPr/>
          <p:nvPr/>
        </p:nvSpPr>
        <p:spPr>
          <a:xfrm>
            <a:off x="11247120" y="594360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6" name="Shape 4"/>
          <p:cNvSpPr/>
          <p:nvPr/>
        </p:nvSpPr>
        <p:spPr>
          <a:xfrm>
            <a:off x="1828800" y="539496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0" y="146304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C5C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ИТОГОВЫЙ ПРОЕКТ  ·  КУРС «АНАЛИТИК ДАННЫХ»  ·  НИУ ВШЭ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33172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Прогнозирование спроса на новогодний ассортимент розничной сети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822960" y="43434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E4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разрезе «магазин × товарная подгруппа» для оптимизации первичного распределения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5166360"/>
            <a:ext cx="2011680" cy="0"/>
          </a:xfrm>
          <a:prstGeom prst="line">
            <a:avLst/>
          </a:prstGeom>
          <a:noFill/>
          <a:ln w="25400">
            <a:solidFill>
              <a:srgbClr val="B61B3B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Проблема: распределение вслепую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о первичном распределении принимается 15 октября — до старта продаж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074920" cy="2651760"/>
          </a:xfrm>
          <a:prstGeom prst="roundRect">
            <a:avLst>
              <a:gd name="adj" fmla="val 2759"/>
            </a:avLst>
          </a:prstGeom>
          <a:solidFill>
            <a:srgbClr val="F1EF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05840" y="2194560"/>
            <a:ext cx="685800" cy="685800"/>
          </a:xfrm>
          <a:prstGeom prst="ellipse">
            <a:avLst/>
          </a:prstGeom>
          <a:solidFill>
            <a:srgbClr val="B61B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05840" y="2194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74520" y="22128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Нехватка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74520" y="261518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B61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OUT-OF-STOCK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154680"/>
            <a:ext cx="4343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Магазин распродал товар досрочно — полка пустует, продажи упущены.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89320" y="1828800"/>
            <a:ext cx="5074920" cy="2651760"/>
          </a:xfrm>
          <a:prstGeom prst="roundRect">
            <a:avLst>
              <a:gd name="adj" fmla="val 2759"/>
            </a:avLst>
          </a:prstGeom>
          <a:solidFill>
            <a:srgbClr val="F1EF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6355080" y="2194560"/>
            <a:ext cx="685800" cy="685800"/>
          </a:xfrm>
          <a:prstGeom prst="ellipse">
            <a:avLst/>
          </a:prstGeom>
          <a:solidFill>
            <a:srgbClr val="323C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355080" y="2194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23760" y="22128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Излишки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23760" y="261518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323C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OVERSTOCK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080" y="3154680"/>
            <a:ext cx="4343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31 декабря непроданный товар замораживает капитал и требует уценки.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4937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Цель: найти обоснованное правило распределения и честно проверить его точность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задачи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F1EFE8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1581912"/>
            <a:ext cx="548640" cy="5486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581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828800" y="143560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Единица прогноза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257800" y="1435608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магазин × товарная подгруппа × сезон (ноябрь–декабрь)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532888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960120" y="2788920"/>
            <a:ext cx="548640" cy="5486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828800" y="264261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Момент решения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57800" y="2642616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октября — прогноз использует только данные, известные к этой дате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739896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F1EF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3995928"/>
            <a:ext cx="548640" cy="5486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995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828800" y="384962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Метрика качества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257800" y="3849624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WAPE + bias (не MAPE — устойчивость к нулевым продажам)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4946904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960120" y="5202936"/>
            <a:ext cx="548640" cy="5486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2029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28800" y="5056632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Сравниваемые методы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257800" y="5056632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LFL-бейзлайны (факт 2024 × коэффициент роста) · Ridge · Lasso · Random Forest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 и методология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B61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недельных выгрузок 1С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297680" y="12801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B61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3.44 млн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297680" y="1965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 на входе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955280" y="12801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B61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955280" y="1965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магазина · 83 подгруппы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881360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3017520"/>
            <a:ext cx="457200" cy="457200"/>
          </a:xfrm>
          <a:prstGeom prst="ellipse">
            <a:avLst/>
          </a:prstGeom>
          <a:solidFill>
            <a:srgbClr val="323C32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25880" y="28803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Очистка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160520" y="2880360"/>
            <a:ext cx="7360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Пропуски = нули (проверено на примере), единый регистр, составной ключ «категория | группа | подгруппа»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323C3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25880" y="39776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Признаки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160520" y="3977640"/>
            <a:ext cx="7360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ever_active — товар в ассортименте магазина; is_stockout — нулевой остаток на конец недели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212080"/>
            <a:ext cx="457200" cy="457200"/>
          </a:xfrm>
          <a:prstGeom prst="ellipse">
            <a:avLst/>
          </a:prstGeom>
          <a:solidFill>
            <a:srgbClr val="323C32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25880" y="50749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Окна периода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160520" y="5074920"/>
            <a:ext cx="7360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Октябрь — признаки, ноябрь–декабрь — целевая переменная, январь вне прогноза (распродажи, а не спрос)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Ключевые находки: разведочный анализ</a:t>
            </a:r>
            <a:endParaRPr lang="en-US" sz="2800" dirty="0"/>
          </a:p>
        </p:txBody>
      </p:sp>
      <p:pic>
        <p:nvPicPr>
          <p:cNvPr id="3" name="Image 0" descr="02_weekly_dynamics_n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25880"/>
            <a:ext cx="7309128" cy="2999232"/>
          </a:xfrm>
          <a:prstGeom prst="rect">
            <a:avLst/>
          </a:prstGeom>
        </p:spPr>
      </p:pic>
      <p:pic>
        <p:nvPicPr>
          <p:cNvPr id="4" name="Image 1" descr="05_abc_xyz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7808" y="1325880"/>
            <a:ext cx="3545092" cy="299923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" y="4480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Пик — неделя 52 в обоих сезонах: 860 257 шт. (2024) и 789 716 шт. (2025)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8183880" y="44805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Стабильных и доходных (AX) — всего 2 подгруппы: шапки и перчатки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594360" y="5440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Спрос сжат в последние недели перед Новым годом — основная масса покупок приходится на финальный рывок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Статистически подтверждено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5394960" cy="1600200"/>
          </a:xfrm>
          <a:prstGeom prst="roundRect">
            <a:avLst>
              <a:gd name="adj" fmla="val 4571"/>
            </a:avLst>
          </a:prstGeom>
          <a:solidFill>
            <a:srgbClr val="7E1013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29844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 = 0.906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Спирмен, p &lt; 0.0001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337560" y="1325880"/>
            <a:ext cx="2514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Ранги подгрупп устойчивы между сезонами — это обосновывает прогноз от прошлого года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188720"/>
            <a:ext cx="5394960" cy="1600200"/>
          </a:xfrm>
          <a:prstGeom prst="roundRect">
            <a:avLst>
              <a:gd name="adj" fmla="val 4571"/>
            </a:avLst>
          </a:prstGeom>
          <a:solidFill>
            <a:srgbClr val="7E1013"/>
          </a:solidFill>
          <a:ln/>
        </p:spPr>
      </p:sp>
      <p:sp>
        <p:nvSpPr>
          <p:cNvPr id="8" name="Text 6"/>
          <p:cNvSpPr/>
          <p:nvPr/>
        </p:nvSpPr>
        <p:spPr>
          <a:xfrm>
            <a:off x="6446520" y="129844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5.2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46520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Манна-Уитни, p &lt; 0.00001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0" y="1325880"/>
            <a:ext cx="2514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Дефицит на Дальнем Востоке 25.7% против 4.9% по остальной сети</a:t>
            </a:r>
            <a:endParaRPr lang="en-US" sz="1250" dirty="0"/>
          </a:p>
        </p:txBody>
      </p:sp>
      <p:pic>
        <p:nvPicPr>
          <p:cNvPr id="11" name="Image 0" descr="04_stockout_by_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796" y="2971800"/>
            <a:ext cx="8595360" cy="3512611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схемы проверки моделей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вопрос: что модель имеет право знать в момент решения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349240" cy="3977640"/>
          </a:xfrm>
          <a:prstGeom prst="roundRect">
            <a:avLst>
              <a:gd name="adj" fmla="val 1839"/>
            </a:avLst>
          </a:prstGeom>
          <a:solidFill>
            <a:srgbClr val="F1EFE8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463040"/>
            <a:ext cx="5349240" cy="868680"/>
          </a:xfrm>
          <a:prstGeom prst="rect">
            <a:avLst/>
          </a:prstGeom>
          <a:solidFill>
            <a:srgbClr val="323C3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5361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E4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ОСНОВНАЯ СХЕМА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8105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Прогноз на 15 октября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51760" y="2514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 2024: начало октября → продажи ноября–декабря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227832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51760" y="32278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 2025, все сопоставимые пары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3941064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394106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 W40–W41, атрибуты магазина, подгруппа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4654296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 сезона 2025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51760" y="465429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97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используются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9632" y="1463040"/>
            <a:ext cx="5349240" cy="3977640"/>
          </a:xfrm>
          <a:prstGeom prst="roundRect">
            <a:avLst>
              <a:gd name="adj" fmla="val 1839"/>
            </a:avLst>
          </a:prstGeom>
          <a:solidFill>
            <a:srgbClr val="F1EFE8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9632" y="1463040"/>
            <a:ext cx="5349240" cy="868680"/>
          </a:xfrm>
          <a:prstGeom prst="rect">
            <a:avLst/>
          </a:prstGeom>
          <a:solidFill>
            <a:srgbClr val="697044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15361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E4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ПОТЕНЦИАЛА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73952" y="18105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Внутри сезона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73952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11312" y="2514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 магазинов, продажи сезона 2025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73952" y="3227832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11312" y="32278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других магазинов того же сезона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73952" y="3941064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11312" y="394106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 прошлого сезона, дефицит, атрибуты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73952" y="4654296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 сезона 2025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11312" y="465429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61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используются — у остальных магазинов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5669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 15 октября продаж сезона ещё нет: для первичного распределения — только левая схема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октября: простое правило не хуже моделей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на сезоне 2024, проверка на сезоне 2025, только данные до 15 октября · 10 720 пар</a:t>
            </a:r>
            <a:endParaRPr lang="en-US" sz="1300" dirty="0"/>
          </a:p>
        </p:txBody>
      </p:sp>
      <p:pic>
        <p:nvPicPr>
          <p:cNvPr id="4" name="Image 0" descr="09_tempora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6858000" cy="342728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26680" y="1554480"/>
            <a:ext cx="3931920" cy="1508760"/>
          </a:xfrm>
          <a:prstGeom prst="roundRect">
            <a:avLst>
              <a:gd name="adj" fmla="val 4848"/>
            </a:avLst>
          </a:prstGeom>
          <a:solidFill>
            <a:srgbClr val="7E1013"/>
          </a:solidFill>
          <a:ln/>
        </p:spPr>
      </p:sp>
      <p:sp>
        <p:nvSpPr>
          <p:cNvPr id="6" name="Text 3"/>
          <p:cNvSpPr/>
          <p:nvPr/>
        </p:nvSpPr>
        <p:spPr>
          <a:xfrm>
            <a:off x="7955280" y="16459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45.8%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955280" y="2331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лучшая ошибка — LFL с единым коэффициентом роста по началу октября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26680" y="363474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9" name="Text 6"/>
          <p:cNvSpPr/>
          <p:nvPr/>
        </p:nvSpPr>
        <p:spPr>
          <a:xfrm>
            <a:off x="7955280" y="324612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46.8% — почти вровень; без истории прошлого сезона моделям не хватает данных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726680" y="450342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0" y="411480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Коэффициенты по кластерам и подгруппам хуже: у 74% пар в начале октября продаж ещё нет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726680" y="537210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3" name="Text 10"/>
          <p:cNvSpPr/>
          <p:nvPr/>
        </p:nvSpPr>
        <p:spPr>
          <a:xfrm>
            <a:off x="7955280" y="498348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Строгий коэффициент (0.886 вместо 0.945) снизил ошибку LFL с 50.0% до 45.8%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Потенциал моделей внутри сезона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отложенных магазинов · модели обучены на продажах сезона 2025 остальной сети</a:t>
            </a:r>
            <a:endParaRPr lang="en-US" sz="1300" dirty="0"/>
          </a:p>
        </p:txBody>
      </p:sp>
      <p:pic>
        <p:nvPicPr>
          <p:cNvPr id="4" name="Image 0" descr="08_wape_comparison_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6653083" cy="3611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98080" y="1554480"/>
            <a:ext cx="4160520" cy="1508760"/>
          </a:xfrm>
          <a:prstGeom prst="roundRect">
            <a:avLst>
              <a:gd name="adj" fmla="val 4848"/>
            </a:avLst>
          </a:prstGeom>
          <a:solidFill>
            <a:srgbClr val="7E1013"/>
          </a:solidFill>
          <a:ln/>
        </p:spPr>
      </p:sp>
      <p:sp>
        <p:nvSpPr>
          <p:cNvPr id="6" name="Text 3"/>
          <p:cNvSpPr/>
          <p:nvPr/>
        </p:nvSpPr>
        <p:spPr>
          <a:xfrm>
            <a:off x="7726680" y="16459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29.6%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726680" y="233172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против 51.7% у бейзлайна, смещение всего 0.7%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63474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9" name="Text 6"/>
          <p:cNvSpPr/>
          <p:nvPr/>
        </p:nvSpPr>
        <p:spPr>
          <a:xfrm>
            <a:off x="7726680" y="324612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Лес лучший в 7 из 9 кластеров; главный признак — продажи прошлого сезона (82%)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498080" y="450342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1" name="Text 8"/>
          <p:cNvSpPr/>
          <p:nvPr/>
        </p:nvSpPr>
        <p:spPr>
          <a:xfrm>
            <a:off x="7726680" y="411480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оставил 15 признаков из 96 и потерял всего 2 п.п. точности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498080" y="537210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26680" y="498348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15 октября этих данных нет — это потенциал для перераспределения по ходу сезона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Находка: смена ассортимента печенья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один артикул не менял подгруппу — сменились сами артикулы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6766560" cy="2267712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C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2024: SKU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C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2024: шт.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C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2025: SKU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C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2025: шт.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C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хлебобулочные изделия | печенье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135 266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61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16 536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сладости | печенье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9 899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61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131 587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Всего печенья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145 165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148 123 (+2%)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1605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Спрос на печенье стабилен, но для прогноза по подгруппам это два разных товара: одна подгруппа «обвалилась», другая «выросла» в 13 раз.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7726680" y="1645920"/>
            <a:ext cx="3931920" cy="1508760"/>
          </a:xfrm>
          <a:prstGeom prst="roundRect">
            <a:avLst>
              <a:gd name="adj" fmla="val 4848"/>
            </a:avLst>
          </a:prstGeom>
          <a:solidFill>
            <a:srgbClr val="7E1013"/>
          </a:solidFill>
          <a:ln/>
        </p:spPr>
      </p:sp>
      <p:sp>
        <p:nvSpPr>
          <p:cNvPr id="7" name="Text 4"/>
          <p:cNvSpPr/>
          <p:nvPr/>
        </p:nvSpPr>
        <p:spPr>
          <a:xfrm>
            <a:off x="7955280" y="17373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26.7%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955280" y="24231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 бейзлайна дают всего 2.6% пар — две подгруппы печенья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26680" y="372618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0" y="333756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15 октября сдвиг не виден: ≈10 п.п. ошибки у любого метода</a:t>
            </a:r>
            <a:endParaRPr lang="en-US" sz="1300" dirty="0"/>
          </a:p>
        </p:txBody>
      </p:sp>
      <p:sp>
        <p:nvSpPr>
          <p:cNvPr id="4" name="Shape 8"/>
          <p:cNvSpPr/>
          <p:nvPr/>
        </p:nvSpPr>
        <p:spPr>
          <a:xfrm>
            <a:off x="7726680" y="459486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2" name="Text 9"/>
          <p:cNvSpPr/>
          <p:nvPr/>
        </p:nvSpPr>
        <p:spPr>
          <a:xfrm>
            <a:off x="7955280" y="420624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Внутри сезона модели «выучили» сдвиг — отсюда ≈40% их выигрыша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26680" y="546354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4" name="Text 11"/>
          <p:cNvSpPr/>
          <p:nvPr/>
        </p:nvSpPr>
        <p:spPr>
          <a:xfrm>
            <a:off x="7955280" y="507492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Вывод: при смене ассортимента переносить историю продаж вручную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Рекомендации и ограничения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188720"/>
            <a:ext cx="6035040" cy="4937760"/>
          </a:xfrm>
          <a:prstGeom prst="roundRect">
            <a:avLst>
              <a:gd name="adj" fmla="val 1481"/>
            </a:avLst>
          </a:prstGeom>
          <a:solidFill>
            <a:srgbClr val="F1EFE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353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323C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2048256"/>
            <a:ext cx="411480" cy="41148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482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82880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Первичное распределение — LFL с единым коэффициентом роста, рассчитанным по началу октября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3099816"/>
            <a:ext cx="411480" cy="41148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998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88036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Пересмотреть логистику Дальнего Востока: упущенная выручка ≈307 тыс. руб. за сезон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4151376"/>
            <a:ext cx="411480" cy="41148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1513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39319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смене ассортимента между подгруппами переносить историю продаж вручную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" y="5202936"/>
            <a:ext cx="411480" cy="41148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20293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498348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 — для перераспределения в сезоне; следующий шаг — проверка на первых неделях ноября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766560" y="1188720"/>
            <a:ext cx="4892040" cy="4937760"/>
          </a:xfrm>
          <a:prstGeom prst="roundRect">
            <a:avLst>
              <a:gd name="adj" fmla="val 1495"/>
            </a:avLst>
          </a:prstGeom>
          <a:solidFill>
            <a:srgbClr val="323C32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0" y="13533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C5C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040880" y="2308860"/>
            <a:ext cx="91440" cy="91440"/>
          </a:xfrm>
          <a:prstGeom prst="ellipse">
            <a:avLst/>
          </a:prstGeom>
          <a:solidFill>
            <a:srgbClr val="C5C9A6"/>
          </a:solidFill>
          <a:ln/>
        </p:spPr>
      </p:sp>
      <p:sp>
        <p:nvSpPr>
          <p:cNvPr id="20" name="Text 18"/>
          <p:cNvSpPr/>
          <p:nvPr/>
        </p:nvSpPr>
        <p:spPr>
          <a:xfrm>
            <a:off x="7269480" y="1828800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Дефицит определён косвенно — справочника ассортимента нет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040880" y="3360420"/>
            <a:ext cx="91440" cy="91440"/>
          </a:xfrm>
          <a:prstGeom prst="ellipse">
            <a:avLst/>
          </a:prstGeom>
          <a:solidFill>
            <a:srgbClr val="C5C9A6"/>
          </a:solidFill>
          <a:ln/>
        </p:spPr>
      </p:sp>
      <p:sp>
        <p:nvSpPr>
          <p:cNvPr id="22" name="Text 20"/>
          <p:cNvSpPr/>
          <p:nvPr/>
        </p:nvSpPr>
        <p:spPr>
          <a:xfrm>
            <a:off x="7269480" y="2880360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сезон обучения (2024 → 2025)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040880" y="4411980"/>
            <a:ext cx="91440" cy="91440"/>
          </a:xfrm>
          <a:prstGeom prst="ellipse">
            <a:avLst/>
          </a:prstGeom>
          <a:solidFill>
            <a:srgbClr val="C5C9A6"/>
          </a:solidFill>
          <a:ln/>
        </p:spPr>
      </p:sp>
      <p:sp>
        <p:nvSpPr>
          <p:cNvPr id="24" name="Text 22"/>
          <p:cNvSpPr/>
          <p:nvPr/>
        </p:nvSpPr>
        <p:spPr>
          <a:xfrm>
            <a:off x="7269480" y="3931920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Гиперпараметры моделей не подбирались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040880" y="5463540"/>
            <a:ext cx="91440" cy="91440"/>
          </a:xfrm>
          <a:prstGeom prst="ellipse">
            <a:avLst/>
          </a:prstGeom>
          <a:solidFill>
            <a:srgbClr val="C5C9A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9480" y="4983480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Новые магазины не сравнивались с прогнозом по аналогу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23C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1440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3" name="Shape 1"/>
          <p:cNvSpPr/>
          <p:nvPr/>
        </p:nvSpPr>
        <p:spPr>
          <a:xfrm>
            <a:off x="11155680" y="82296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03504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5" name="Shape 3"/>
          <p:cNvSpPr/>
          <p:nvPr/>
        </p:nvSpPr>
        <p:spPr>
          <a:xfrm>
            <a:off x="11247120" y="594360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6" name="Shape 4"/>
          <p:cNvSpPr/>
          <p:nvPr/>
        </p:nvSpPr>
        <p:spPr>
          <a:xfrm>
            <a:off x="1828800" y="539496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0" y="146304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6517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813816" y="3566160"/>
            <a:ext cx="2011680" cy="0"/>
          </a:xfrm>
          <a:prstGeom prst="line">
            <a:avLst/>
          </a:prstGeom>
          <a:noFill/>
          <a:ln w="25400">
            <a:solidFill>
              <a:srgbClr val="B61B3B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850</Words>
  <Application>Microsoft Office PowerPoint</Application>
  <PresentationFormat>Широкоэкранный</PresentationFormat>
  <Paragraphs>155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Анастасия Еремина</cp:lastModifiedBy>
  <cp:revision>2</cp:revision>
  <dcterms:created xsi:type="dcterms:W3CDTF">2026-10-03T09:11:48Z</dcterms:created>
  <dcterms:modified xsi:type="dcterms:W3CDTF">2026-10-12T16:56:46Z</dcterms:modified>
</cp:coreProperties>
</file>